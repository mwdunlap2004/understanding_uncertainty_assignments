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4FA412-75DD-D827-B481-080B0690CBE5}" v="20" dt="2025-11-12T20:40:18.672"/>
    <p1510:client id="{CE0D1F09-C003-6E47-AB7F-FC834809397F}" v="1" dt="2025-11-12T16:36:39.152"/>
    <p1510:client id="{F7EAAB92-4BC6-4B58-A9AF-E204C40E53D4}" v="72" dt="2025-11-13T03:15:07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070131-821E-4062-8715-69DA0CEA899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15A2163-72D1-4C3D-A67E-8F207E8F4108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100">
              <a:latin typeface="Aptos" panose="02110004020202020204"/>
              <a:ea typeface="+mn-ea"/>
              <a:cs typeface="+mn-cs"/>
            </a:rPr>
            <a:t>The U.S. primarily exports weapons to long-standing allies in Asia, Europe, and the Middle East.</a:t>
          </a:r>
        </a:p>
      </dgm:t>
    </dgm:pt>
    <dgm:pt modelId="{287B24E8-AE8E-4B5D-B673-028AD39A3570}" type="parTrans" cxnId="{2DD59560-220D-4B8C-94CB-B1D06536F292}">
      <dgm:prSet/>
      <dgm:spPr/>
      <dgm:t>
        <a:bodyPr/>
        <a:lstStyle/>
        <a:p>
          <a:endParaRPr lang="en-US"/>
        </a:p>
      </dgm:t>
    </dgm:pt>
    <dgm:pt modelId="{38E917BD-8EF1-4216-9071-AB7A1A17C3B9}" type="sibTrans" cxnId="{2DD59560-220D-4B8C-94CB-B1D06536F292}">
      <dgm:prSet/>
      <dgm:spPr/>
      <dgm:t>
        <a:bodyPr/>
        <a:lstStyle/>
        <a:p>
          <a:endParaRPr lang="en-US"/>
        </a:p>
      </dgm:t>
    </dgm:pt>
    <dgm:pt modelId="{2658E8CB-EF37-4D90-92CC-1DF5ECBF04A8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100">
              <a:latin typeface="Aptos" panose="02110004020202020204"/>
              <a:ea typeface="+mn-ea"/>
              <a:cs typeface="+mn-cs"/>
            </a:rPr>
            <a:t>Patterns of transfers reflect strategic and military partnerships more than geographic proximity.</a:t>
          </a:r>
        </a:p>
      </dgm:t>
    </dgm:pt>
    <dgm:pt modelId="{457C2EC7-090E-4AF7-9797-9A4D24D361C8}" type="parTrans" cxnId="{5B6D4F9C-AA02-4568-BCC8-C2BB637B734B}">
      <dgm:prSet/>
      <dgm:spPr/>
      <dgm:t>
        <a:bodyPr/>
        <a:lstStyle/>
        <a:p>
          <a:endParaRPr lang="en-US"/>
        </a:p>
      </dgm:t>
    </dgm:pt>
    <dgm:pt modelId="{FBDF1FC7-D764-4721-A7AD-CAA8B85C3319}" type="sibTrans" cxnId="{5B6D4F9C-AA02-4568-BCC8-C2BB637B734B}">
      <dgm:prSet/>
      <dgm:spPr/>
      <dgm:t>
        <a:bodyPr/>
        <a:lstStyle/>
        <a:p>
          <a:endParaRPr lang="en-US"/>
        </a:p>
      </dgm:t>
    </dgm:pt>
    <dgm:pt modelId="{A50EDC22-819B-4BCF-841F-D000CA4BC633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100" dirty="0">
              <a:latin typeface="Aptos" panose="02110004020202020204"/>
              <a:ea typeface="+mn-ea"/>
              <a:cs typeface="+mn-cs"/>
            </a:rPr>
            <a:t>Despite data limitations, the Markov model effectively captures realistic global transfer dynamics.</a:t>
          </a:r>
        </a:p>
      </dgm:t>
    </dgm:pt>
    <dgm:pt modelId="{7CC7CD25-8315-48AA-AB94-F01FB232022D}" type="parTrans" cxnId="{EC580F07-29C0-4D88-8C15-31413416A13C}">
      <dgm:prSet/>
      <dgm:spPr/>
      <dgm:t>
        <a:bodyPr/>
        <a:lstStyle/>
        <a:p>
          <a:endParaRPr lang="en-US"/>
        </a:p>
      </dgm:t>
    </dgm:pt>
    <dgm:pt modelId="{AE6DDBFD-12F9-40D3-B014-7165EFFE169B}" type="sibTrans" cxnId="{EC580F07-29C0-4D88-8C15-31413416A13C}">
      <dgm:prSet/>
      <dgm:spPr/>
      <dgm:t>
        <a:bodyPr/>
        <a:lstStyle/>
        <a:p>
          <a:endParaRPr lang="en-US"/>
        </a:p>
      </dgm:t>
    </dgm:pt>
    <dgm:pt modelId="{02C11183-A1A6-E64C-B66C-BC134C9AC542}" type="pres">
      <dgm:prSet presAssocID="{E3070131-821E-4062-8715-69DA0CEA899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C032C1A-574B-784A-8301-F1C459FB2C3F}" type="pres">
      <dgm:prSet presAssocID="{D15A2163-72D1-4C3D-A67E-8F207E8F4108}" presName="hierRoot1" presStyleCnt="0"/>
      <dgm:spPr/>
    </dgm:pt>
    <dgm:pt modelId="{F2B25E5A-F835-0D4B-938B-55A0C8B9863C}" type="pres">
      <dgm:prSet presAssocID="{D15A2163-72D1-4C3D-A67E-8F207E8F4108}" presName="composite" presStyleCnt="0"/>
      <dgm:spPr/>
    </dgm:pt>
    <dgm:pt modelId="{4403E7BD-02D7-E645-A8A4-5C9ACF47B585}" type="pres">
      <dgm:prSet presAssocID="{D15A2163-72D1-4C3D-A67E-8F207E8F4108}" presName="background" presStyleLbl="node0" presStyleIdx="0" presStyleCnt="3"/>
      <dgm:spPr/>
    </dgm:pt>
    <dgm:pt modelId="{DF9B5237-8BD0-AD48-BB66-ADDF1089463C}" type="pres">
      <dgm:prSet presAssocID="{D15A2163-72D1-4C3D-A67E-8F207E8F4108}" presName="text" presStyleLbl="fgAcc0" presStyleIdx="0" presStyleCnt="3">
        <dgm:presLayoutVars>
          <dgm:chPref val="3"/>
        </dgm:presLayoutVars>
      </dgm:prSet>
      <dgm:spPr/>
    </dgm:pt>
    <dgm:pt modelId="{84AEA3DF-84AF-1D43-96BF-F31BF83BC8A8}" type="pres">
      <dgm:prSet presAssocID="{D15A2163-72D1-4C3D-A67E-8F207E8F4108}" presName="hierChild2" presStyleCnt="0"/>
      <dgm:spPr/>
    </dgm:pt>
    <dgm:pt modelId="{D168F339-F952-5945-90F5-ABE15660B7A0}" type="pres">
      <dgm:prSet presAssocID="{2658E8CB-EF37-4D90-92CC-1DF5ECBF04A8}" presName="hierRoot1" presStyleCnt="0"/>
      <dgm:spPr/>
    </dgm:pt>
    <dgm:pt modelId="{5E535460-17F6-E04C-8E14-EDF22106E7D4}" type="pres">
      <dgm:prSet presAssocID="{2658E8CB-EF37-4D90-92CC-1DF5ECBF04A8}" presName="composite" presStyleCnt="0"/>
      <dgm:spPr/>
    </dgm:pt>
    <dgm:pt modelId="{DE2E535E-A5F4-B84E-9B52-03325D24534E}" type="pres">
      <dgm:prSet presAssocID="{2658E8CB-EF37-4D90-92CC-1DF5ECBF04A8}" presName="background" presStyleLbl="node0" presStyleIdx="1" presStyleCnt="3"/>
      <dgm:spPr/>
    </dgm:pt>
    <dgm:pt modelId="{182BF6BE-6A96-AB43-9810-E6A79D2453D1}" type="pres">
      <dgm:prSet presAssocID="{2658E8CB-EF37-4D90-92CC-1DF5ECBF04A8}" presName="text" presStyleLbl="fgAcc0" presStyleIdx="1" presStyleCnt="3">
        <dgm:presLayoutVars>
          <dgm:chPref val="3"/>
        </dgm:presLayoutVars>
      </dgm:prSet>
      <dgm:spPr/>
    </dgm:pt>
    <dgm:pt modelId="{2464668A-D940-DD4B-ADD4-7855666A9B9C}" type="pres">
      <dgm:prSet presAssocID="{2658E8CB-EF37-4D90-92CC-1DF5ECBF04A8}" presName="hierChild2" presStyleCnt="0"/>
      <dgm:spPr/>
    </dgm:pt>
    <dgm:pt modelId="{33AF68B6-FCE7-CA47-88D0-94EE2967A5C8}" type="pres">
      <dgm:prSet presAssocID="{A50EDC22-819B-4BCF-841F-D000CA4BC633}" presName="hierRoot1" presStyleCnt="0"/>
      <dgm:spPr/>
    </dgm:pt>
    <dgm:pt modelId="{B6855274-7CA8-2E48-820D-F81227D92D64}" type="pres">
      <dgm:prSet presAssocID="{A50EDC22-819B-4BCF-841F-D000CA4BC633}" presName="composite" presStyleCnt="0"/>
      <dgm:spPr/>
    </dgm:pt>
    <dgm:pt modelId="{BEA68657-C5ED-7E4E-9CDF-5F061455001B}" type="pres">
      <dgm:prSet presAssocID="{A50EDC22-819B-4BCF-841F-D000CA4BC633}" presName="background" presStyleLbl="node0" presStyleIdx="2" presStyleCnt="3"/>
      <dgm:spPr/>
    </dgm:pt>
    <dgm:pt modelId="{3059A073-C960-654A-B841-3B4363E37DB7}" type="pres">
      <dgm:prSet presAssocID="{A50EDC22-819B-4BCF-841F-D000CA4BC633}" presName="text" presStyleLbl="fgAcc0" presStyleIdx="2" presStyleCnt="3">
        <dgm:presLayoutVars>
          <dgm:chPref val="3"/>
        </dgm:presLayoutVars>
      </dgm:prSet>
      <dgm:spPr/>
    </dgm:pt>
    <dgm:pt modelId="{A1FB40CC-73E8-9B4E-8888-16CBC40F2143}" type="pres">
      <dgm:prSet presAssocID="{A50EDC22-819B-4BCF-841F-D000CA4BC633}" presName="hierChild2" presStyleCnt="0"/>
      <dgm:spPr/>
    </dgm:pt>
  </dgm:ptLst>
  <dgm:cxnLst>
    <dgm:cxn modelId="{EC580F07-29C0-4D88-8C15-31413416A13C}" srcId="{E3070131-821E-4062-8715-69DA0CEA899F}" destId="{A50EDC22-819B-4BCF-841F-D000CA4BC633}" srcOrd="2" destOrd="0" parTransId="{7CC7CD25-8315-48AA-AB94-F01FB232022D}" sibTransId="{AE6DDBFD-12F9-40D3-B014-7165EFFE169B}"/>
    <dgm:cxn modelId="{26BC4015-331C-EB48-BBB9-4F8D7722ECC3}" type="presOf" srcId="{2658E8CB-EF37-4D90-92CC-1DF5ECBF04A8}" destId="{182BF6BE-6A96-AB43-9810-E6A79D2453D1}" srcOrd="0" destOrd="0" presId="urn:microsoft.com/office/officeart/2005/8/layout/hierarchy1"/>
    <dgm:cxn modelId="{2DD59560-220D-4B8C-94CB-B1D06536F292}" srcId="{E3070131-821E-4062-8715-69DA0CEA899F}" destId="{D15A2163-72D1-4C3D-A67E-8F207E8F4108}" srcOrd="0" destOrd="0" parTransId="{287B24E8-AE8E-4B5D-B673-028AD39A3570}" sibTransId="{38E917BD-8EF1-4216-9071-AB7A1A17C3B9}"/>
    <dgm:cxn modelId="{62EE8246-F65A-6847-9FEF-38973331B3BD}" type="presOf" srcId="{E3070131-821E-4062-8715-69DA0CEA899F}" destId="{02C11183-A1A6-E64C-B66C-BC134C9AC542}" srcOrd="0" destOrd="0" presId="urn:microsoft.com/office/officeart/2005/8/layout/hierarchy1"/>
    <dgm:cxn modelId="{22D5D646-A8A6-5241-81D2-C46C99A39CFB}" type="presOf" srcId="{A50EDC22-819B-4BCF-841F-D000CA4BC633}" destId="{3059A073-C960-654A-B841-3B4363E37DB7}" srcOrd="0" destOrd="0" presId="urn:microsoft.com/office/officeart/2005/8/layout/hierarchy1"/>
    <dgm:cxn modelId="{6E8DA48F-C1B9-4A42-AF9A-ACD448CD2DC4}" type="presOf" srcId="{D15A2163-72D1-4C3D-A67E-8F207E8F4108}" destId="{DF9B5237-8BD0-AD48-BB66-ADDF1089463C}" srcOrd="0" destOrd="0" presId="urn:microsoft.com/office/officeart/2005/8/layout/hierarchy1"/>
    <dgm:cxn modelId="{5B6D4F9C-AA02-4568-BCC8-C2BB637B734B}" srcId="{E3070131-821E-4062-8715-69DA0CEA899F}" destId="{2658E8CB-EF37-4D90-92CC-1DF5ECBF04A8}" srcOrd="1" destOrd="0" parTransId="{457C2EC7-090E-4AF7-9797-9A4D24D361C8}" sibTransId="{FBDF1FC7-D764-4721-A7AD-CAA8B85C3319}"/>
    <dgm:cxn modelId="{32D2A967-1113-0441-8AB4-1874992D400D}" type="presParOf" srcId="{02C11183-A1A6-E64C-B66C-BC134C9AC542}" destId="{BC032C1A-574B-784A-8301-F1C459FB2C3F}" srcOrd="0" destOrd="0" presId="urn:microsoft.com/office/officeart/2005/8/layout/hierarchy1"/>
    <dgm:cxn modelId="{CAEC8DAD-04DB-1746-B167-FCF88C14F6E3}" type="presParOf" srcId="{BC032C1A-574B-784A-8301-F1C459FB2C3F}" destId="{F2B25E5A-F835-0D4B-938B-55A0C8B9863C}" srcOrd="0" destOrd="0" presId="urn:microsoft.com/office/officeart/2005/8/layout/hierarchy1"/>
    <dgm:cxn modelId="{B412FA45-8F91-1A46-800A-2F63BBEA5EAF}" type="presParOf" srcId="{F2B25E5A-F835-0D4B-938B-55A0C8B9863C}" destId="{4403E7BD-02D7-E645-A8A4-5C9ACF47B585}" srcOrd="0" destOrd="0" presId="urn:microsoft.com/office/officeart/2005/8/layout/hierarchy1"/>
    <dgm:cxn modelId="{77FCF92F-82B5-4248-A5BC-DA2C79764C52}" type="presParOf" srcId="{F2B25E5A-F835-0D4B-938B-55A0C8B9863C}" destId="{DF9B5237-8BD0-AD48-BB66-ADDF1089463C}" srcOrd="1" destOrd="0" presId="urn:microsoft.com/office/officeart/2005/8/layout/hierarchy1"/>
    <dgm:cxn modelId="{1E68E7DE-00FF-EF47-8D23-EC76BCD1478A}" type="presParOf" srcId="{BC032C1A-574B-784A-8301-F1C459FB2C3F}" destId="{84AEA3DF-84AF-1D43-96BF-F31BF83BC8A8}" srcOrd="1" destOrd="0" presId="urn:microsoft.com/office/officeart/2005/8/layout/hierarchy1"/>
    <dgm:cxn modelId="{BD825FEB-8D5B-104B-A1D8-AA75B0D0BD78}" type="presParOf" srcId="{02C11183-A1A6-E64C-B66C-BC134C9AC542}" destId="{D168F339-F952-5945-90F5-ABE15660B7A0}" srcOrd="1" destOrd="0" presId="urn:microsoft.com/office/officeart/2005/8/layout/hierarchy1"/>
    <dgm:cxn modelId="{A77AF2B8-3126-3944-B49E-DCA40FC2D52F}" type="presParOf" srcId="{D168F339-F952-5945-90F5-ABE15660B7A0}" destId="{5E535460-17F6-E04C-8E14-EDF22106E7D4}" srcOrd="0" destOrd="0" presId="urn:microsoft.com/office/officeart/2005/8/layout/hierarchy1"/>
    <dgm:cxn modelId="{A1A303FB-564C-834A-BEC2-5F7A11E5C59E}" type="presParOf" srcId="{5E535460-17F6-E04C-8E14-EDF22106E7D4}" destId="{DE2E535E-A5F4-B84E-9B52-03325D24534E}" srcOrd="0" destOrd="0" presId="urn:microsoft.com/office/officeart/2005/8/layout/hierarchy1"/>
    <dgm:cxn modelId="{8609ED9B-43E7-4B4B-B7C4-E38C3C024728}" type="presParOf" srcId="{5E535460-17F6-E04C-8E14-EDF22106E7D4}" destId="{182BF6BE-6A96-AB43-9810-E6A79D2453D1}" srcOrd="1" destOrd="0" presId="urn:microsoft.com/office/officeart/2005/8/layout/hierarchy1"/>
    <dgm:cxn modelId="{508DADA5-A3D3-D648-8E4A-8D55A67072D8}" type="presParOf" srcId="{D168F339-F952-5945-90F5-ABE15660B7A0}" destId="{2464668A-D940-DD4B-ADD4-7855666A9B9C}" srcOrd="1" destOrd="0" presId="urn:microsoft.com/office/officeart/2005/8/layout/hierarchy1"/>
    <dgm:cxn modelId="{E457A02A-678F-DF48-BC0E-644CA9F4F1E1}" type="presParOf" srcId="{02C11183-A1A6-E64C-B66C-BC134C9AC542}" destId="{33AF68B6-FCE7-CA47-88D0-94EE2967A5C8}" srcOrd="2" destOrd="0" presId="urn:microsoft.com/office/officeart/2005/8/layout/hierarchy1"/>
    <dgm:cxn modelId="{FAFED1B9-17B9-A944-80C6-1D4D8B6A0A1B}" type="presParOf" srcId="{33AF68B6-FCE7-CA47-88D0-94EE2967A5C8}" destId="{B6855274-7CA8-2E48-820D-F81227D92D64}" srcOrd="0" destOrd="0" presId="urn:microsoft.com/office/officeart/2005/8/layout/hierarchy1"/>
    <dgm:cxn modelId="{BF32D101-49E9-AF47-A4C7-DD72A5883D0D}" type="presParOf" srcId="{B6855274-7CA8-2E48-820D-F81227D92D64}" destId="{BEA68657-C5ED-7E4E-9CDF-5F061455001B}" srcOrd="0" destOrd="0" presId="urn:microsoft.com/office/officeart/2005/8/layout/hierarchy1"/>
    <dgm:cxn modelId="{0416044B-9907-1F41-B59B-270E4D55AB5A}" type="presParOf" srcId="{B6855274-7CA8-2E48-820D-F81227D92D64}" destId="{3059A073-C960-654A-B841-3B4363E37DB7}" srcOrd="1" destOrd="0" presId="urn:microsoft.com/office/officeart/2005/8/layout/hierarchy1"/>
    <dgm:cxn modelId="{5B457FFF-0747-A04F-A638-8925F7EE790B}" type="presParOf" srcId="{33AF68B6-FCE7-CA47-88D0-94EE2967A5C8}" destId="{A1FB40CC-73E8-9B4E-8888-16CBC40F21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070131-821E-4062-8715-69DA0CEA899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15A2163-72D1-4C3D-A67E-8F207E8F4108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200" dirty="0">
              <a:latin typeface="Aptos"/>
              <a:ea typeface="+mn-ea"/>
              <a:cs typeface="+mn-cs"/>
            </a:rPr>
            <a:t>How do global conflicts or policy shifts (e.g., sanctions, wars) alter transfer probabilities?</a:t>
          </a:r>
        </a:p>
      </dgm:t>
    </dgm:pt>
    <dgm:pt modelId="{287B24E8-AE8E-4B5D-B673-028AD39A3570}" type="parTrans" cxnId="{2DD59560-220D-4B8C-94CB-B1D06536F292}">
      <dgm:prSet/>
      <dgm:spPr/>
      <dgm:t>
        <a:bodyPr/>
        <a:lstStyle/>
        <a:p>
          <a:endParaRPr lang="en-US"/>
        </a:p>
      </dgm:t>
    </dgm:pt>
    <dgm:pt modelId="{38E917BD-8EF1-4216-9071-AB7A1A17C3B9}" type="sibTrans" cxnId="{2DD59560-220D-4B8C-94CB-B1D06536F292}">
      <dgm:prSet/>
      <dgm:spPr/>
      <dgm:t>
        <a:bodyPr/>
        <a:lstStyle/>
        <a:p>
          <a:endParaRPr lang="en-US"/>
        </a:p>
      </dgm:t>
    </dgm:pt>
    <dgm:pt modelId="{2658E8CB-EF37-4D90-92CC-1DF5ECBF04A8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200" dirty="0">
              <a:latin typeface="Aptos"/>
              <a:ea typeface="+mn-ea"/>
              <a:cs typeface="+mn-cs"/>
            </a:rPr>
            <a:t>Could weapon type or technology level reveal different regional dynamics?</a:t>
          </a:r>
        </a:p>
      </dgm:t>
    </dgm:pt>
    <dgm:pt modelId="{457C2EC7-090E-4AF7-9797-9A4D24D361C8}" type="parTrans" cxnId="{5B6D4F9C-AA02-4568-BCC8-C2BB637B734B}">
      <dgm:prSet/>
      <dgm:spPr/>
      <dgm:t>
        <a:bodyPr/>
        <a:lstStyle/>
        <a:p>
          <a:endParaRPr lang="en-US"/>
        </a:p>
      </dgm:t>
    </dgm:pt>
    <dgm:pt modelId="{FBDF1FC7-D764-4721-A7AD-CAA8B85C3319}" type="sibTrans" cxnId="{5B6D4F9C-AA02-4568-BCC8-C2BB637B734B}">
      <dgm:prSet/>
      <dgm:spPr/>
      <dgm:t>
        <a:bodyPr/>
        <a:lstStyle/>
        <a:p>
          <a:endParaRPr lang="en-US"/>
        </a:p>
      </dgm:t>
    </dgm:pt>
    <dgm:pt modelId="{A50EDC22-819B-4BCF-841F-D000CA4BC633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200" dirty="0">
              <a:latin typeface="Aptos"/>
              <a:ea typeface="+mn-ea"/>
              <a:cs typeface="+mn-cs"/>
            </a:rPr>
            <a:t>How might incorporating temporal or political event data improve model accuracy over time?</a:t>
          </a:r>
        </a:p>
      </dgm:t>
    </dgm:pt>
    <dgm:pt modelId="{7CC7CD25-8315-48AA-AB94-F01FB232022D}" type="parTrans" cxnId="{EC580F07-29C0-4D88-8C15-31413416A13C}">
      <dgm:prSet/>
      <dgm:spPr/>
      <dgm:t>
        <a:bodyPr/>
        <a:lstStyle/>
        <a:p>
          <a:endParaRPr lang="en-US"/>
        </a:p>
      </dgm:t>
    </dgm:pt>
    <dgm:pt modelId="{AE6DDBFD-12F9-40D3-B014-7165EFFE169B}" type="sibTrans" cxnId="{EC580F07-29C0-4D88-8C15-31413416A13C}">
      <dgm:prSet/>
      <dgm:spPr/>
      <dgm:t>
        <a:bodyPr/>
        <a:lstStyle/>
        <a:p>
          <a:endParaRPr lang="en-US"/>
        </a:p>
      </dgm:t>
    </dgm:pt>
    <dgm:pt modelId="{02C11183-A1A6-E64C-B66C-BC134C9AC542}" type="pres">
      <dgm:prSet presAssocID="{E3070131-821E-4062-8715-69DA0CEA899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C032C1A-574B-784A-8301-F1C459FB2C3F}" type="pres">
      <dgm:prSet presAssocID="{D15A2163-72D1-4C3D-A67E-8F207E8F4108}" presName="hierRoot1" presStyleCnt="0"/>
      <dgm:spPr/>
    </dgm:pt>
    <dgm:pt modelId="{F2B25E5A-F835-0D4B-938B-55A0C8B9863C}" type="pres">
      <dgm:prSet presAssocID="{D15A2163-72D1-4C3D-A67E-8F207E8F4108}" presName="composite" presStyleCnt="0"/>
      <dgm:spPr/>
    </dgm:pt>
    <dgm:pt modelId="{4403E7BD-02D7-E645-A8A4-5C9ACF47B585}" type="pres">
      <dgm:prSet presAssocID="{D15A2163-72D1-4C3D-A67E-8F207E8F4108}" presName="background" presStyleLbl="node0" presStyleIdx="0" presStyleCnt="3"/>
      <dgm:spPr/>
    </dgm:pt>
    <dgm:pt modelId="{DF9B5237-8BD0-AD48-BB66-ADDF1089463C}" type="pres">
      <dgm:prSet presAssocID="{D15A2163-72D1-4C3D-A67E-8F207E8F4108}" presName="text" presStyleLbl="fgAcc0" presStyleIdx="0" presStyleCnt="3">
        <dgm:presLayoutVars>
          <dgm:chPref val="3"/>
        </dgm:presLayoutVars>
      </dgm:prSet>
      <dgm:spPr/>
    </dgm:pt>
    <dgm:pt modelId="{84AEA3DF-84AF-1D43-96BF-F31BF83BC8A8}" type="pres">
      <dgm:prSet presAssocID="{D15A2163-72D1-4C3D-A67E-8F207E8F4108}" presName="hierChild2" presStyleCnt="0"/>
      <dgm:spPr/>
    </dgm:pt>
    <dgm:pt modelId="{D168F339-F952-5945-90F5-ABE15660B7A0}" type="pres">
      <dgm:prSet presAssocID="{2658E8CB-EF37-4D90-92CC-1DF5ECBF04A8}" presName="hierRoot1" presStyleCnt="0"/>
      <dgm:spPr/>
    </dgm:pt>
    <dgm:pt modelId="{5E535460-17F6-E04C-8E14-EDF22106E7D4}" type="pres">
      <dgm:prSet presAssocID="{2658E8CB-EF37-4D90-92CC-1DF5ECBF04A8}" presName="composite" presStyleCnt="0"/>
      <dgm:spPr/>
    </dgm:pt>
    <dgm:pt modelId="{DE2E535E-A5F4-B84E-9B52-03325D24534E}" type="pres">
      <dgm:prSet presAssocID="{2658E8CB-EF37-4D90-92CC-1DF5ECBF04A8}" presName="background" presStyleLbl="node0" presStyleIdx="1" presStyleCnt="3"/>
      <dgm:spPr/>
    </dgm:pt>
    <dgm:pt modelId="{182BF6BE-6A96-AB43-9810-E6A79D2453D1}" type="pres">
      <dgm:prSet presAssocID="{2658E8CB-EF37-4D90-92CC-1DF5ECBF04A8}" presName="text" presStyleLbl="fgAcc0" presStyleIdx="1" presStyleCnt="3">
        <dgm:presLayoutVars>
          <dgm:chPref val="3"/>
        </dgm:presLayoutVars>
      </dgm:prSet>
      <dgm:spPr/>
    </dgm:pt>
    <dgm:pt modelId="{2464668A-D940-DD4B-ADD4-7855666A9B9C}" type="pres">
      <dgm:prSet presAssocID="{2658E8CB-EF37-4D90-92CC-1DF5ECBF04A8}" presName="hierChild2" presStyleCnt="0"/>
      <dgm:spPr/>
    </dgm:pt>
    <dgm:pt modelId="{33AF68B6-FCE7-CA47-88D0-94EE2967A5C8}" type="pres">
      <dgm:prSet presAssocID="{A50EDC22-819B-4BCF-841F-D000CA4BC633}" presName="hierRoot1" presStyleCnt="0"/>
      <dgm:spPr/>
    </dgm:pt>
    <dgm:pt modelId="{B6855274-7CA8-2E48-820D-F81227D92D64}" type="pres">
      <dgm:prSet presAssocID="{A50EDC22-819B-4BCF-841F-D000CA4BC633}" presName="composite" presStyleCnt="0"/>
      <dgm:spPr/>
    </dgm:pt>
    <dgm:pt modelId="{BEA68657-C5ED-7E4E-9CDF-5F061455001B}" type="pres">
      <dgm:prSet presAssocID="{A50EDC22-819B-4BCF-841F-D000CA4BC633}" presName="background" presStyleLbl="node0" presStyleIdx="2" presStyleCnt="3"/>
      <dgm:spPr/>
    </dgm:pt>
    <dgm:pt modelId="{3059A073-C960-654A-B841-3B4363E37DB7}" type="pres">
      <dgm:prSet presAssocID="{A50EDC22-819B-4BCF-841F-D000CA4BC633}" presName="text" presStyleLbl="fgAcc0" presStyleIdx="2" presStyleCnt="3">
        <dgm:presLayoutVars>
          <dgm:chPref val="3"/>
        </dgm:presLayoutVars>
      </dgm:prSet>
      <dgm:spPr/>
    </dgm:pt>
    <dgm:pt modelId="{A1FB40CC-73E8-9B4E-8888-16CBC40F2143}" type="pres">
      <dgm:prSet presAssocID="{A50EDC22-819B-4BCF-841F-D000CA4BC633}" presName="hierChild2" presStyleCnt="0"/>
      <dgm:spPr/>
    </dgm:pt>
  </dgm:ptLst>
  <dgm:cxnLst>
    <dgm:cxn modelId="{EC580F07-29C0-4D88-8C15-31413416A13C}" srcId="{E3070131-821E-4062-8715-69DA0CEA899F}" destId="{A50EDC22-819B-4BCF-841F-D000CA4BC633}" srcOrd="2" destOrd="0" parTransId="{7CC7CD25-8315-48AA-AB94-F01FB232022D}" sibTransId="{AE6DDBFD-12F9-40D3-B014-7165EFFE169B}"/>
    <dgm:cxn modelId="{26BC4015-331C-EB48-BBB9-4F8D7722ECC3}" type="presOf" srcId="{2658E8CB-EF37-4D90-92CC-1DF5ECBF04A8}" destId="{182BF6BE-6A96-AB43-9810-E6A79D2453D1}" srcOrd="0" destOrd="0" presId="urn:microsoft.com/office/officeart/2005/8/layout/hierarchy1"/>
    <dgm:cxn modelId="{2DD59560-220D-4B8C-94CB-B1D06536F292}" srcId="{E3070131-821E-4062-8715-69DA0CEA899F}" destId="{D15A2163-72D1-4C3D-A67E-8F207E8F4108}" srcOrd="0" destOrd="0" parTransId="{287B24E8-AE8E-4B5D-B673-028AD39A3570}" sibTransId="{38E917BD-8EF1-4216-9071-AB7A1A17C3B9}"/>
    <dgm:cxn modelId="{62EE8246-F65A-6847-9FEF-38973331B3BD}" type="presOf" srcId="{E3070131-821E-4062-8715-69DA0CEA899F}" destId="{02C11183-A1A6-E64C-B66C-BC134C9AC542}" srcOrd="0" destOrd="0" presId="urn:microsoft.com/office/officeart/2005/8/layout/hierarchy1"/>
    <dgm:cxn modelId="{22D5D646-A8A6-5241-81D2-C46C99A39CFB}" type="presOf" srcId="{A50EDC22-819B-4BCF-841F-D000CA4BC633}" destId="{3059A073-C960-654A-B841-3B4363E37DB7}" srcOrd="0" destOrd="0" presId="urn:microsoft.com/office/officeart/2005/8/layout/hierarchy1"/>
    <dgm:cxn modelId="{6E8DA48F-C1B9-4A42-AF9A-ACD448CD2DC4}" type="presOf" srcId="{D15A2163-72D1-4C3D-A67E-8F207E8F4108}" destId="{DF9B5237-8BD0-AD48-BB66-ADDF1089463C}" srcOrd="0" destOrd="0" presId="urn:microsoft.com/office/officeart/2005/8/layout/hierarchy1"/>
    <dgm:cxn modelId="{5B6D4F9C-AA02-4568-BCC8-C2BB637B734B}" srcId="{E3070131-821E-4062-8715-69DA0CEA899F}" destId="{2658E8CB-EF37-4D90-92CC-1DF5ECBF04A8}" srcOrd="1" destOrd="0" parTransId="{457C2EC7-090E-4AF7-9797-9A4D24D361C8}" sibTransId="{FBDF1FC7-D764-4721-A7AD-CAA8B85C3319}"/>
    <dgm:cxn modelId="{32D2A967-1113-0441-8AB4-1874992D400D}" type="presParOf" srcId="{02C11183-A1A6-E64C-B66C-BC134C9AC542}" destId="{BC032C1A-574B-784A-8301-F1C459FB2C3F}" srcOrd="0" destOrd="0" presId="urn:microsoft.com/office/officeart/2005/8/layout/hierarchy1"/>
    <dgm:cxn modelId="{CAEC8DAD-04DB-1746-B167-FCF88C14F6E3}" type="presParOf" srcId="{BC032C1A-574B-784A-8301-F1C459FB2C3F}" destId="{F2B25E5A-F835-0D4B-938B-55A0C8B9863C}" srcOrd="0" destOrd="0" presId="urn:microsoft.com/office/officeart/2005/8/layout/hierarchy1"/>
    <dgm:cxn modelId="{B412FA45-8F91-1A46-800A-2F63BBEA5EAF}" type="presParOf" srcId="{F2B25E5A-F835-0D4B-938B-55A0C8B9863C}" destId="{4403E7BD-02D7-E645-A8A4-5C9ACF47B585}" srcOrd="0" destOrd="0" presId="urn:microsoft.com/office/officeart/2005/8/layout/hierarchy1"/>
    <dgm:cxn modelId="{77FCF92F-82B5-4248-A5BC-DA2C79764C52}" type="presParOf" srcId="{F2B25E5A-F835-0D4B-938B-55A0C8B9863C}" destId="{DF9B5237-8BD0-AD48-BB66-ADDF1089463C}" srcOrd="1" destOrd="0" presId="urn:microsoft.com/office/officeart/2005/8/layout/hierarchy1"/>
    <dgm:cxn modelId="{1E68E7DE-00FF-EF47-8D23-EC76BCD1478A}" type="presParOf" srcId="{BC032C1A-574B-784A-8301-F1C459FB2C3F}" destId="{84AEA3DF-84AF-1D43-96BF-F31BF83BC8A8}" srcOrd="1" destOrd="0" presId="urn:microsoft.com/office/officeart/2005/8/layout/hierarchy1"/>
    <dgm:cxn modelId="{BD825FEB-8D5B-104B-A1D8-AA75B0D0BD78}" type="presParOf" srcId="{02C11183-A1A6-E64C-B66C-BC134C9AC542}" destId="{D168F339-F952-5945-90F5-ABE15660B7A0}" srcOrd="1" destOrd="0" presId="urn:microsoft.com/office/officeart/2005/8/layout/hierarchy1"/>
    <dgm:cxn modelId="{A77AF2B8-3126-3944-B49E-DCA40FC2D52F}" type="presParOf" srcId="{D168F339-F952-5945-90F5-ABE15660B7A0}" destId="{5E535460-17F6-E04C-8E14-EDF22106E7D4}" srcOrd="0" destOrd="0" presId="urn:microsoft.com/office/officeart/2005/8/layout/hierarchy1"/>
    <dgm:cxn modelId="{A1A303FB-564C-834A-BEC2-5F7A11E5C59E}" type="presParOf" srcId="{5E535460-17F6-E04C-8E14-EDF22106E7D4}" destId="{DE2E535E-A5F4-B84E-9B52-03325D24534E}" srcOrd="0" destOrd="0" presId="urn:microsoft.com/office/officeart/2005/8/layout/hierarchy1"/>
    <dgm:cxn modelId="{8609ED9B-43E7-4B4B-B7C4-E38C3C024728}" type="presParOf" srcId="{5E535460-17F6-E04C-8E14-EDF22106E7D4}" destId="{182BF6BE-6A96-AB43-9810-E6A79D2453D1}" srcOrd="1" destOrd="0" presId="urn:microsoft.com/office/officeart/2005/8/layout/hierarchy1"/>
    <dgm:cxn modelId="{508DADA5-A3D3-D648-8E4A-8D55A67072D8}" type="presParOf" srcId="{D168F339-F952-5945-90F5-ABE15660B7A0}" destId="{2464668A-D940-DD4B-ADD4-7855666A9B9C}" srcOrd="1" destOrd="0" presId="urn:microsoft.com/office/officeart/2005/8/layout/hierarchy1"/>
    <dgm:cxn modelId="{E457A02A-678F-DF48-BC0E-644CA9F4F1E1}" type="presParOf" srcId="{02C11183-A1A6-E64C-B66C-BC134C9AC542}" destId="{33AF68B6-FCE7-CA47-88D0-94EE2967A5C8}" srcOrd="2" destOrd="0" presId="urn:microsoft.com/office/officeart/2005/8/layout/hierarchy1"/>
    <dgm:cxn modelId="{FAFED1B9-17B9-A944-80C6-1D4D8B6A0A1B}" type="presParOf" srcId="{33AF68B6-FCE7-CA47-88D0-94EE2967A5C8}" destId="{B6855274-7CA8-2E48-820D-F81227D92D64}" srcOrd="0" destOrd="0" presId="urn:microsoft.com/office/officeart/2005/8/layout/hierarchy1"/>
    <dgm:cxn modelId="{BF32D101-49E9-AF47-A4C7-DD72A5883D0D}" type="presParOf" srcId="{B6855274-7CA8-2E48-820D-F81227D92D64}" destId="{BEA68657-C5ED-7E4E-9CDF-5F061455001B}" srcOrd="0" destOrd="0" presId="urn:microsoft.com/office/officeart/2005/8/layout/hierarchy1"/>
    <dgm:cxn modelId="{0416044B-9907-1F41-B59B-270E4D55AB5A}" type="presParOf" srcId="{B6855274-7CA8-2E48-820D-F81227D92D64}" destId="{3059A073-C960-654A-B841-3B4363E37DB7}" srcOrd="1" destOrd="0" presId="urn:microsoft.com/office/officeart/2005/8/layout/hierarchy1"/>
    <dgm:cxn modelId="{5B457FFF-0747-A04F-A638-8925F7EE790B}" type="presParOf" srcId="{33AF68B6-FCE7-CA47-88D0-94EE2967A5C8}" destId="{A1FB40CC-73E8-9B4E-8888-16CBC40F21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3E7BD-02D7-E645-A8A4-5C9ACF47B585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B5237-8BD0-AD48-BB66-ADDF1089463C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Aptos" panose="02110004020202020204"/>
              <a:ea typeface="+mn-ea"/>
              <a:cs typeface="+mn-cs"/>
            </a:rPr>
            <a:t>The U.S. primarily exports weapons to long-standing allies in Asia, Europe, and the Middle East.</a:t>
          </a:r>
        </a:p>
      </dsp:txBody>
      <dsp:txXfrm>
        <a:off x="398656" y="1088253"/>
        <a:ext cx="2959127" cy="1837317"/>
      </dsp:txXfrm>
    </dsp:sp>
    <dsp:sp modelId="{DE2E535E-A5F4-B84E-9B52-03325D24534E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BF6BE-6A96-AB43-9810-E6A79D2453D1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Aptos" panose="02110004020202020204"/>
              <a:ea typeface="+mn-ea"/>
              <a:cs typeface="+mn-cs"/>
            </a:rPr>
            <a:t>Patterns of transfers reflect strategic and military partnerships more than geographic proximity.</a:t>
          </a:r>
        </a:p>
      </dsp:txBody>
      <dsp:txXfrm>
        <a:off x="4155097" y="1088253"/>
        <a:ext cx="2959127" cy="1837317"/>
      </dsp:txXfrm>
    </dsp:sp>
    <dsp:sp modelId="{BEA68657-C5ED-7E4E-9CDF-5F061455001B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9A073-C960-654A-B841-3B4363E37DB7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Aptos" panose="02110004020202020204"/>
              <a:ea typeface="+mn-ea"/>
              <a:cs typeface="+mn-cs"/>
            </a:rPr>
            <a:t>Despite data limitations, the Markov model effectively captures realistic global transfer dynamics.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3E7BD-02D7-E645-A8A4-5C9ACF47B585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B5237-8BD0-AD48-BB66-ADDF1089463C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/>
              <a:ea typeface="+mn-ea"/>
              <a:cs typeface="+mn-cs"/>
            </a:rPr>
            <a:t>How do global conflicts or policy shifts (e.g., sanctions, wars) alter transfer probabilities?</a:t>
          </a:r>
        </a:p>
      </dsp:txBody>
      <dsp:txXfrm>
        <a:off x="398656" y="1088253"/>
        <a:ext cx="2959127" cy="1837317"/>
      </dsp:txXfrm>
    </dsp:sp>
    <dsp:sp modelId="{DE2E535E-A5F4-B84E-9B52-03325D24534E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BF6BE-6A96-AB43-9810-E6A79D2453D1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/>
              <a:ea typeface="+mn-ea"/>
              <a:cs typeface="+mn-cs"/>
            </a:rPr>
            <a:t>Could weapon type or technology level reveal different regional dynamics?</a:t>
          </a:r>
        </a:p>
      </dsp:txBody>
      <dsp:txXfrm>
        <a:off x="4155097" y="1088253"/>
        <a:ext cx="2959127" cy="1837317"/>
      </dsp:txXfrm>
    </dsp:sp>
    <dsp:sp modelId="{BEA68657-C5ED-7E4E-9CDF-5F061455001B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9A073-C960-654A-B841-3B4363E37DB7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/>
              <a:ea typeface="+mn-ea"/>
              <a:cs typeface="+mn-cs"/>
            </a:rPr>
            <a:t>How might incorporating temporal or political event data improve model accuracy over time?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5E401-A506-493C-8703-88D59857A6B2}" type="datetimeFigureOut"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3393E-2C87-4072-92E3-9FFB129435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6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The data come from the SIPRI Arms Transfers Database, maintained by the Stockholm International Peace Research Institute since 1950.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It includes nearly </a:t>
            </a:r>
            <a:r>
              <a:rPr lang="en-US" b="1" dirty="0"/>
              <a:t>30,000 observations</a:t>
            </a:r>
            <a:r>
              <a:rPr lang="en-US" dirty="0"/>
              <a:t> across </a:t>
            </a:r>
            <a:r>
              <a:rPr lang="en-US" b="1" dirty="0"/>
              <a:t>257 countries or entities</a:t>
            </a:r>
            <a:r>
              <a:rPr lang="en-US" dirty="0"/>
              <a:t>, providing a detailed picture of global transfers.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Key features: supplier, recipient, weapon type, delivery year, and a measure of value called </a:t>
            </a:r>
            <a:r>
              <a:rPr lang="en-US" b="1" dirty="0"/>
              <a:t>TIV (Trend Indicator Value)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Note that some missing values come from dissolved countries or incomplete delivery records.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Overall, this is one of the most comprehensive and credible global datasets for arms transfers.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3393E-2C87-4072-92E3-9FFB1294354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96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Highlight that the top recipients include </a:t>
            </a:r>
            <a:r>
              <a:rPr lang="en-US" b="1" dirty="0"/>
              <a:t>South Korea, Japan, Taiwan, and Turkey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These reflect the U.S.’s long-term alliances in Asia and NATO.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Emphasize that the probabilities are derived from a </a:t>
            </a:r>
            <a:r>
              <a:rPr lang="en-US" b="1" dirty="0"/>
              <a:t>Markov transition model</a:t>
            </a:r>
            <a:r>
              <a:rPr lang="en-US" dirty="0"/>
              <a:t>, representing the likelihood of transfers between countries.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Note that Asia and Europe dominate the top of the distribution, suggesting strategic and defense-based trade relationships.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3393E-2C87-4072-92E3-9FFB12943546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62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Explain entropy as a measure of </a:t>
            </a:r>
            <a:r>
              <a:rPr lang="en-US" b="1" dirty="0"/>
              <a:t>diversity</a:t>
            </a:r>
            <a:r>
              <a:rPr lang="en-US" dirty="0"/>
              <a:t> in exports — higher entropy means more evenly distributed exports.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trend shows that the diversity of U.S. export partners has grown gradually over time.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Mention how earlier decades were dominated by a few Cold War allies, while recent decades show broader export networks.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This indicates increasing global reach and diversification of U.S. arms trading relationships.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3393E-2C87-4072-92E3-9FFB12943546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7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This chart shows how U.S. exports are distributed by region.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largest shares go to </a:t>
            </a:r>
            <a:r>
              <a:rPr lang="en-US" b="1" dirty="0"/>
              <a:t>Asia</a:t>
            </a:r>
            <a:r>
              <a:rPr lang="en-US" dirty="0"/>
              <a:t> and </a:t>
            </a:r>
            <a:r>
              <a:rPr lang="en-US" b="1" dirty="0"/>
              <a:t>Europe</a:t>
            </a:r>
            <a:r>
              <a:rPr lang="en-US" dirty="0"/>
              <a:t>, followed by the </a:t>
            </a:r>
            <a:r>
              <a:rPr lang="en-US" b="1" dirty="0"/>
              <a:t>Middle East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North America and Oceania account for relatively small portions.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Point out that this aligns with global security alliances and defense agreements — reinforcing that weapons flow toward areas of strategic interest or instability.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3393E-2C87-4072-92E3-9FFB12943546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0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Explain that the Markov model allows simulation of potential transfer “paths” based on historical probabilities.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For example, one simulated sequence might go from the U.S. to Germany to Greece to Spain to Bolivia — showing how weapons could flow across regions over time.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These sequences are not predictions but plausible pathways illustrating how arms circulation can spread.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This helps visualize complex networks and the indirect reach of U.S. arms exports.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3393E-2C87-4072-92E3-9FFB12943546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46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Summarize key takeaways:</a:t>
            </a:r>
          </a:p>
          <a:p>
            <a:pPr lvl="1" indent="-285750">
              <a:buFont typeface="Courier New"/>
              <a:buChar char="o"/>
            </a:pPr>
            <a:r>
              <a:rPr lang="en-US"/>
              <a:t>The U.S. exports primarily to long-term allies, especially in Asia and Europe.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 indent="-285750">
              <a:buFont typeface="Courier New"/>
              <a:buChar char="o"/>
            </a:pPr>
            <a:r>
              <a:rPr lang="en-US"/>
              <a:t>Some recipient countries no longer exist or appear infrequently, showing dataset complexity.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 indent="-285750">
              <a:buFont typeface="Courier New"/>
              <a:buChar char="o"/>
            </a:pPr>
            <a:r>
              <a:rPr lang="en-US"/>
              <a:t>The model captures realistic trade dynamics, but not real-time political context.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Conclude that U.S. export patterns reflect both historical alliances and evolving global defense interests.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3393E-2C87-4072-92E3-9FFB12943546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98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Suggest three directions:</a:t>
            </a:r>
          </a:p>
          <a:p>
            <a:pPr lvl="1" indent="-285750">
              <a:buFont typeface="Courier New"/>
              <a:buChar char="o"/>
            </a:pPr>
            <a:r>
              <a:rPr lang="en-US"/>
              <a:t>Incorporate </a:t>
            </a:r>
            <a:r>
              <a:rPr lang="en-US" b="1"/>
              <a:t>political or conflict data</a:t>
            </a:r>
            <a:r>
              <a:rPr lang="en-US"/>
              <a:t> (like sanctions or wars) to explain sudden changes in export patterns.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 indent="-285750">
              <a:buFont typeface="Courier New"/>
              <a:buChar char="o"/>
            </a:pPr>
            <a:r>
              <a:rPr lang="en-US"/>
              <a:t>Differentiate results by </a:t>
            </a:r>
            <a:r>
              <a:rPr lang="en-US" b="1"/>
              <a:t>weapon type</a:t>
            </a:r>
            <a:r>
              <a:rPr lang="en-US"/>
              <a:t> — for example, aircraft vs. small arms.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 indent="-285750">
              <a:buFont typeface="Courier New"/>
              <a:buChar char="o"/>
            </a:pPr>
            <a:r>
              <a:rPr lang="en-US"/>
              <a:t>Explore </a:t>
            </a:r>
            <a:r>
              <a:rPr lang="en-US" b="1"/>
              <a:t>temporal modeling</a:t>
            </a:r>
            <a:r>
              <a:rPr lang="en-US"/>
              <a:t> — adding time-based effects to capture changing alliances and policies.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Emphasize that these steps could make the model more predictive and relevant to modern geopolitical analysis.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3393E-2C87-4072-92E3-9FFB12943546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57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D5512-EAE7-2DE4-53B3-77200E3F5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DC168-E65B-C772-D203-FA0D4FCC6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D566A-FDBD-47C2-6F84-6DA755AB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3D450-DCBD-3823-8507-3414715D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8E9FE-93A4-388D-4F68-F1CD56B1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6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B679-FA5B-36F5-9179-460F60EB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66D7B-557C-5109-3762-0A6F8799B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52B04-9C79-9E59-95A4-4C1FE057F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61C3C-4020-447C-8B96-48A3EDEF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8181-1C46-FD4E-3256-53E52925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36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DCD-8AA8-E030-CEF8-CB71E431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67D4D-DFFC-2394-575F-2392DFD23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08E6E-CACF-2EE0-935D-A6520ABB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A8486-FBAD-6AA5-9371-2360002D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6B568-867B-BF1F-2280-E2FC93FB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4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996C-EE64-910A-6751-3B807A26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0C210-9827-6A8E-E46F-7ECFA42E5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073F5-3BF6-2FE5-6B3C-9B5461E75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98C9A-F66A-0A62-E76C-E467D5B3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52592-1E43-CFC2-BFAB-8543EDFB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C913C-4999-CADD-863D-D7FBF43C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1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EDA2-172E-0C9C-ED82-F886AF38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DE53-1837-F6F7-E31C-8CC370946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6E2E5-76E6-8517-601C-472F342C3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26A5A-ACB5-B266-6424-0279B8DD8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15B83F-000F-8EFD-C12E-AAE645881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50EBB-6D5E-CB88-C6B8-DCE3C213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EADEB-2DB0-10A4-8E47-C1111151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E06B4D-0046-7E09-4EEC-E0348F60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0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32247-C950-88A3-882D-EB374689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8DBC7-C1E3-E430-B3BD-2E7A548C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6E44B-819E-7EDF-F738-5539B87B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202A1-91E4-D4AE-4B4F-1941619B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0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6CAB85-EDF8-98A4-089E-3B29B60A5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C156C-53DF-991A-3BBA-CFB30399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79B39-9882-57FD-8B33-89B59074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7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8335-BCF8-BA11-F3F3-F05E1C804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0341A-7ECA-AB68-7439-7327129F4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5F351-7627-50C8-DA0B-857B902AD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426D-2D55-C43C-46B5-B056B963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57598-504E-EC29-2439-7FDC17C95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B2D55-DD1A-97C3-470A-3A23AA99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00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D1CE-6899-58A7-C7FC-719966D43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1F320-B690-FD72-B718-8480F9FCC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045D0-466B-4DEF-1AF6-7ECB98ECE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8B97-64FA-5CE4-B599-A07FB3E89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8FF46-4D4B-A2F6-6B78-E72CD1A0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17605-AB38-862E-6660-B4D2A7B9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9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9D17-C9D6-2BA9-362F-686B8625B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AAAB6-AD73-952E-B5CB-FB189B564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2A7D2-3768-7317-E225-53A9C4CF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86A5F-A5DA-567F-A8CF-A3EE75EA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46FE-AD89-8EDA-AAAE-CB2022B9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8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0991EA-2EA6-D726-14BF-86937F821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392B6-B2DC-8436-EE7D-C8D7137BD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A8EC-32BC-D949-CFF6-6C395FE0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BA38D-C89C-3892-34A0-8E9146CF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B4C7-134F-8C43-2331-9362D19C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F3CAB-1D78-944A-DCB6-55BE1FAA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7732B-2D2C-0F6A-C28B-E29B11A93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4A0F5-13A0-7061-EA3B-A480B977E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1069E-3491-934E-A643-855C2402BD7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6B74-0932-A9DD-3678-204A02D93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632B7-5F2A-CFA8-DB3C-F15E8BBE7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8BCAB-8A5B-F448-B77D-7D75C8EE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775B6-7281-C5BC-0877-4F6C5E887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Who ends up with U.S. weapons, and what patterns emerge in their distribution over time?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482E3-26E6-9FAE-5667-E276D7D09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sz="1800" i="1" dirty="0">
                <a:ea typeface="+mn-lt"/>
                <a:cs typeface="+mn-lt"/>
              </a:rPr>
              <a:t>“Since 1950, the U.S. has been the largest global arms supplier—this project models how those exports spread across allies and conflict zones using data from the SIPRI Arms Transfer Database.”</a:t>
            </a:r>
            <a:endParaRPr lang="en-US" sz="1800" i="1" dirty="0"/>
          </a:p>
          <a:p>
            <a:pPr algn="l"/>
            <a:r>
              <a:rPr lang="en-US" sz="1800" dirty="0"/>
              <a:t>Lucas Rayder, Nicholas Thornton, Michael Dunlap</a:t>
            </a:r>
          </a:p>
        </p:txBody>
      </p:sp>
    </p:spTree>
    <p:extLst>
      <p:ext uri="{BB962C8B-B14F-4D97-AF65-F5344CB8AC3E}">
        <p14:creationId xmlns:p14="http://schemas.microsoft.com/office/powerpoint/2010/main" val="232947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E0B75-A676-69B3-5BA5-C3750D713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About 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4C6FE-F407-B93D-A5D5-C7CBBBB38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054" y="2796809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 dirty="0">
                <a:ea typeface="+mn-lt"/>
                <a:cs typeface="+mn-lt"/>
              </a:rPr>
              <a:t>Source: SIPRI Arms Transfers Database, maintained by the Stockholm International Peace Research Institute, which has tracked major conventional arms transfers since 1950.</a:t>
            </a:r>
          </a:p>
          <a:p>
            <a:r>
              <a:rPr lang="en-US" sz="1800" dirty="0">
                <a:ea typeface="+mn-lt"/>
                <a:cs typeface="+mn-lt"/>
              </a:rPr>
              <a:t>Scope: Includes 29,507 observations covering 257 countries or entities from 1950 to 2023.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Structure: Each record represents a transaction between a supplier and a recipient, describing the flow, type, and value of transferred weapons.</a:t>
            </a:r>
          </a:p>
          <a:p>
            <a:r>
              <a:rPr lang="en-US" sz="1800" dirty="0">
                <a:ea typeface="+mn-lt"/>
                <a:cs typeface="+mn-lt"/>
              </a:rPr>
              <a:t>Key variables:</a:t>
            </a:r>
          </a:p>
          <a:p>
            <a:pPr lvl="1"/>
            <a:r>
              <a:rPr lang="en-US" sz="1800" dirty="0">
                <a:ea typeface="+mn-lt"/>
                <a:cs typeface="+mn-lt"/>
              </a:rPr>
              <a:t>Recipient and supplier</a:t>
            </a:r>
          </a:p>
          <a:p>
            <a:pPr lvl="1"/>
            <a:r>
              <a:rPr lang="en-US" sz="1800" dirty="0">
                <a:ea typeface="+mn-lt"/>
                <a:cs typeface="+mn-lt"/>
              </a:rPr>
              <a:t>Order year and delivery year</a:t>
            </a:r>
          </a:p>
          <a:p>
            <a:pPr lvl="1"/>
            <a:r>
              <a:rPr lang="en-US" sz="1800" dirty="0">
                <a:ea typeface="+mn-lt"/>
                <a:cs typeface="+mn-lt"/>
              </a:rPr>
              <a:t>Weapon designation and description</a:t>
            </a:r>
          </a:p>
          <a:p>
            <a:pPr lvl="1"/>
            <a:r>
              <a:rPr lang="en-US" sz="1800" dirty="0">
                <a:ea typeface="+mn-lt"/>
                <a:cs typeface="+mn-lt"/>
              </a:rPr>
              <a:t>Status (new or second-hand)</a:t>
            </a:r>
          </a:p>
          <a:p>
            <a:pPr lvl="1"/>
            <a:r>
              <a:rPr lang="en-US" sz="1800" dirty="0">
                <a:ea typeface="+mn-lt"/>
                <a:cs typeface="+mn-lt"/>
              </a:rPr>
              <a:t>TIV (Trend Indicator Value): SIPRI’s standardized measure of transfer value</a:t>
            </a:r>
          </a:p>
          <a:p>
            <a:r>
              <a:rPr lang="en-US" sz="1800" dirty="0">
                <a:ea typeface="+mn-lt"/>
                <a:cs typeface="+mn-lt"/>
              </a:rPr>
              <a:t>Missing data: Limited to dissolved states or unreported deliveries, handled through selective filtering to maintain consistency.</a:t>
            </a:r>
            <a:endParaRPr lang="en-US" sz="1800" dirty="0"/>
          </a:p>
          <a:p>
            <a:endParaRPr lang="en-US" sz="2000" dirty="0"/>
          </a:p>
          <a:p>
            <a:pPr marL="457200" lvl="1" indent="0">
              <a:buNone/>
            </a:pPr>
            <a:endParaRPr lang="en-US" sz="1400"/>
          </a:p>
          <a:p>
            <a:pPr marL="457200" lvl="1" indent="0">
              <a:buNone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37828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A24DE7-C336-4994-8C52-D9B3F3D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E5166-57F0-01FA-8DF3-D1C2A829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rect">
            <a:avLst/>
          </a:prstGeom>
          <a:solidFill>
            <a:srgbClr val="405364"/>
          </a:solidFill>
          <a:ln>
            <a:solidFill>
              <a:srgbClr val="405364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Recipients of U.S. Weapons Transfers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D77B3-1333-7793-AB46-01915E354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84667" y="1596707"/>
            <a:ext cx="6656073" cy="397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7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A24DE7-C336-4994-8C52-D9B3F3D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4402D-5AB5-9A50-D3C8-462333588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rect">
            <a:avLst/>
          </a:prstGeom>
          <a:solidFill>
            <a:schemeClr val="accent1"/>
          </a:solidFill>
          <a:ln w="174625" cmpd="thinThick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Entropy of U.S. Export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F443F9-5FCB-1CED-A114-1F9AEE2F7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9368" y="1596707"/>
            <a:ext cx="5466671" cy="397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9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A24DE7-C336-4994-8C52-D9B3F3D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40DEA-EA7C-A413-9749-47A73962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rect">
            <a:avLst/>
          </a:prstGeom>
          <a:solidFill>
            <a:schemeClr val="accent1"/>
          </a:solidFill>
          <a:ln w="174625" cmpd="thinThick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Regional Distribution of Weapon Transfers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57A6BC-AE83-7FAD-0D5D-0B0194FDC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99822" y="1596707"/>
            <a:ext cx="6025763" cy="397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3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46FF8-B3C3-BAE1-FCF2-B9C860781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Using the Model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8D12E4-F38F-F33E-609E-4948BD2DE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4296" y="708981"/>
            <a:ext cx="6894576" cy="3757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EA5273-CE9D-DC2F-6D25-A0D6A2D9C3BF}"/>
              </a:ext>
            </a:extLst>
          </p:cNvPr>
          <p:cNvSpPr txBox="1"/>
          <p:nvPr/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Sequence 1: ['United States', </a:t>
            </a:r>
            <a:r>
              <a:rPr lang="en-US" sz="1900" err="1"/>
              <a:t>np.str</a:t>
            </a:r>
            <a:r>
              <a:rPr lang="en-US" sz="1900"/>
              <a:t>_('Germany'), </a:t>
            </a:r>
            <a:r>
              <a:rPr lang="en-US" sz="1900" err="1"/>
              <a:t>np.str</a:t>
            </a:r>
            <a:r>
              <a:rPr lang="en-US" sz="1900"/>
              <a:t>_('Greece'), </a:t>
            </a:r>
            <a:r>
              <a:rPr lang="en-US" sz="1900" err="1"/>
              <a:t>np.str</a:t>
            </a:r>
            <a:r>
              <a:rPr lang="en-US" sz="1900"/>
              <a:t>_('Spain'), </a:t>
            </a:r>
            <a:r>
              <a:rPr lang="en-US" sz="1900" err="1"/>
              <a:t>np.str</a:t>
            </a:r>
            <a:r>
              <a:rPr lang="en-US" sz="1900"/>
              <a:t>_('Bolivia’)]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Sequence 8: ['United States', </a:t>
            </a:r>
            <a:r>
              <a:rPr lang="en-US" sz="1900" err="1"/>
              <a:t>np.str</a:t>
            </a:r>
            <a:r>
              <a:rPr lang="en-US" sz="1900"/>
              <a:t>_('Iraq'), </a:t>
            </a:r>
            <a:r>
              <a:rPr lang="en-US" sz="1900" err="1"/>
              <a:t>np.str</a:t>
            </a:r>
            <a:r>
              <a:rPr lang="en-US" sz="1900"/>
              <a:t>_('Jordan'), </a:t>
            </a:r>
            <a:r>
              <a:rPr lang="en-US" sz="1900" err="1"/>
              <a:t>np.str</a:t>
            </a:r>
            <a:r>
              <a:rPr lang="en-US" sz="1900"/>
              <a:t>_('Lebanon'), </a:t>
            </a:r>
            <a:r>
              <a:rPr lang="en-US" sz="1900" err="1"/>
              <a:t>np.str</a:t>
            </a:r>
            <a:r>
              <a:rPr lang="en-US" sz="1900"/>
              <a:t>_('Pakistan'), </a:t>
            </a:r>
            <a:r>
              <a:rPr lang="en-US" sz="1900" err="1"/>
              <a:t>np.str</a:t>
            </a:r>
            <a:r>
              <a:rPr lang="en-US" sz="1900"/>
              <a:t>_('Iran'), </a:t>
            </a:r>
            <a:r>
              <a:rPr lang="en-US" sz="1900" err="1"/>
              <a:t>np.str</a:t>
            </a:r>
            <a:r>
              <a:rPr lang="en-US" sz="1900"/>
              <a:t>_('Houthi rebels (Yemen)*')]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03339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0AF3E-AC23-A8AE-B548-7B00390C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D54F94-AF5D-E8F3-7EF1-2723C1B42B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22604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224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98C97-6D94-2A12-084E-0F9F50C4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55D0F4D-AC2A-EC70-1D20-3D7042197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E9519C-EDFA-E356-16CA-61FE0C1CE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3D5A74-85FF-2056-9D7F-74EECE83B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7509F3-D117-20FE-0A96-72BDB904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F064E-EE96-CDDC-B46B-342FEAFAA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Further Research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CBB87D-AC14-B133-C0F6-E8F38FDD6F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2948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F3734-04D2-157D-CAD1-BF11998F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3FB121-8AB0-85F1-5B67-E2E805D6A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CCFCC9-A510-34FC-B476-6E2B6BE9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22EE1C-F42A-53F0-CDA5-1642F8138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3111E2-8847-179F-3AAF-8183B0280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85FC71-4F2C-77BB-D728-4EAFF5DED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3C2160D-1912-B540-CB87-2D06B6284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CF91E-6AB1-CC5A-BCDB-CFD9D409A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750907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Who ends up with U.S. weapons, and what patterns emerge in their distribution over time?</vt:lpstr>
      <vt:lpstr>About Our Data</vt:lpstr>
      <vt:lpstr>Top Recipients of U.S. Weapons Transfers</vt:lpstr>
      <vt:lpstr>Entropy of U.S. Export Distribution</vt:lpstr>
      <vt:lpstr>Regional Distribution of Weapon Transfers</vt:lpstr>
      <vt:lpstr>Using the Model</vt:lpstr>
      <vt:lpstr>Conclusion</vt:lpstr>
      <vt:lpstr>Further Research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Dunlap</dc:creator>
  <cp:revision>102</cp:revision>
  <dcterms:created xsi:type="dcterms:W3CDTF">2025-11-11T16:09:24Z</dcterms:created>
  <dcterms:modified xsi:type="dcterms:W3CDTF">2025-11-13T03:23:06Z</dcterms:modified>
</cp:coreProperties>
</file>